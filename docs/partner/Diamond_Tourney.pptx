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BC5533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0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Year 1 (8 events, 2 orgs)</c:v>
                  </c:pt>
                  <c:pt idx="1">
                    <c:v>Year 2 (40 events, 5 orgs)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1430</c:v>
                </c:pt>
                <c:pt idx="1">
                  <c:v>5155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1B4433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0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Year 1 (8 events, 2 orgs)</c:v>
                  </c:pt>
                  <c:pt idx="1">
                    <c:v>Year 2 (40 events, 5 orgs)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600</c:v>
                </c:pt>
                <c:pt idx="1">
                  <c:v>800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420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A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"/>
        </c:scaling>
        <c:delete val="0"/>
        <c:axPos val="l"/>
        <c:majorGridlines>
          <c:spPr>
            <a:ln w="12700" cap="flat">
              <a:solidFill>
                <a:srgbClr val="DDE3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A6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name is Diamond Tourney. This is a concept deck, not a product that exists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Coach-supplied uploads also sidestep the terms-of-service question that scraping GameChanger would raise.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700784"/>
            <a:ext cx="274320" cy="274320"/>
          </a:xfrm>
          <a:prstGeom prst="diamond">
            <a:avLst/>
          </a:prstGeom>
          <a:solidFill>
            <a:srgbClr val="BC5533"/>
          </a:solidFill>
          <a:ln w="12700">
            <a:solidFill>
              <a:srgbClr val="BC55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103120"/>
            <a:ext cx="11055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Diamond</a:t>
            </a:r>
            <a:pPr indent="0" marL="0">
              <a:buNone/>
            </a:pPr>
            <a:r>
              <a:rPr lang="en-US" sz="6000" b="1" spc="-100" kern="0" dirty="0">
                <a:solidFill>
                  <a:srgbClr val="BC5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Tourney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291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1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software for softball and baseball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82219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clipboard. Lose the group text.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5760720"/>
            <a:ext cx="2926080" cy="18288"/>
          </a:xfrm>
          <a:prstGeom prst="rect">
            <a:avLst/>
          </a:prstGeom>
          <a:solidFill>
            <a:srgbClr val="2F4C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5925312"/>
            <a:ext cx="11055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deck  |  Derek Rocco  |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tournaments still run on paper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9774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directors doing it are not wrong 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075688"/>
            <a:ext cx="201168" cy="201168"/>
          </a:xfrm>
          <a:prstGeom prst="diamond">
            <a:avLst/>
          </a:prstGeom>
          <a:solidFill>
            <a:srgbClr val="BC5533"/>
          </a:solidFill>
          <a:ln w="12700">
            <a:solidFill>
              <a:srgbClr val="BC55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965960"/>
            <a:ext cx="10506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schedule lives on a clipboard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350008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copy. In the director's hand. Wherever he happens to be standing.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3246120"/>
            <a:ext cx="201168" cy="201168"/>
          </a:xfrm>
          <a:prstGeom prst="diamond">
            <a:avLst/>
          </a:prstGeom>
          <a:solidFill>
            <a:srgbClr val="BC5533"/>
          </a:solidFill>
          <a:ln w="12700">
            <a:solidFill>
              <a:srgbClr val="BC55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136392"/>
            <a:ext cx="10506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travel by group text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520440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delay, field swap, a game running long. Forty messages, three versions, nobody sure which is current.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4416552"/>
            <a:ext cx="201168" cy="201168"/>
          </a:xfrm>
          <a:prstGeom prst="diamond">
            <a:avLst/>
          </a:prstGeom>
          <a:solidFill>
            <a:srgbClr val="BC5533"/>
          </a:solidFill>
          <a:ln w="12700">
            <a:solidFill>
              <a:srgbClr val="BC55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4306824"/>
            <a:ext cx="10506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Families walk to the fence to check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690872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hundred and twenty parents, one printed sheet, all weekend.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5577840"/>
            <a:ext cx="11055096" cy="841248"/>
          </a:xfrm>
          <a:prstGeom prst="rect">
            <a:avLst/>
          </a:prstGeom>
          <a:solidFill>
            <a:srgbClr val="F4F7F3"/>
          </a:solidFill>
          <a:ln w="12700">
            <a:solidFill>
              <a:srgbClr val="F4F7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" y="5577840"/>
            <a:ext cx="104150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director doesn't have a scheduling problem. He has a broadcast problem — and he experiences it as forty text messages.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paper wins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9774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competitor isn't a feature set. It's setup time.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057400"/>
            <a:ext cx="5394960" cy="2788920"/>
          </a:xfrm>
          <a:prstGeom prst="rect">
            <a:avLst/>
          </a:prstGeom>
          <a:solidFill>
            <a:srgbClr val="F4F7F3"/>
          </a:solidFill>
          <a:ln w="12700">
            <a:solidFill>
              <a:srgbClr val="F4F7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23317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5A6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3246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set up existing tournament software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794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six-team Saturday, that is a real cost with no return.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81928" y="2057400"/>
            <a:ext cx="5394960" cy="2788920"/>
          </a:xfrm>
          <a:prstGeom prst="rect">
            <a:avLst/>
          </a:prstGeom>
          <a:solidFill>
            <a:srgbClr val="0E2A1E"/>
          </a:solidFill>
          <a:ln w="12700">
            <a:solidFill>
              <a:srgbClr val="0E2A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47688" y="23317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BC5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sec</a:t>
            </a:r>
            <a:endParaRPr lang="en-US" sz="5800" dirty="0"/>
          </a:p>
        </p:txBody>
      </p:sp>
      <p:sp>
        <p:nvSpPr>
          <p:cNvPr id="10" name="Text 8"/>
          <p:cNvSpPr txBox="1"/>
          <p:nvPr/>
        </p:nvSpPr>
        <p:spPr>
          <a:xfrm>
            <a:off x="6647688" y="3246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a schedule you already built on a link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3794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migrate. Nothing to abandon. Keep the clipboard.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212080"/>
            <a:ext cx="11055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survives because the software is over-built for a four-hour tournament. Beat the setup cost and you beat the clipboard.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in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9774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much of it as you want. Start where you already are.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121408"/>
            <a:ext cx="29260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2395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whole thing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907792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registrations, track who has paid, seed the pool, build the bracket.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94760" y="2121408"/>
            <a:ext cx="292608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0" y="2395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build it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907792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teams, pick a format and field count. Get a schedule and bracket back.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22592" y="2121408"/>
            <a:ext cx="4599432" cy="2880360"/>
          </a:xfrm>
          <a:prstGeom prst="rect">
            <a:avLst/>
          </a:prstGeom>
          <a:solidFill>
            <a:srgbClr val="0E2A1E"/>
          </a:solidFill>
          <a:ln w="12700">
            <a:solidFill>
              <a:srgbClr val="0E2A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42632" y="2359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C5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42632" y="2670048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have a schedule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7342632" y="3200400"/>
            <a:ext cx="3959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grid from Excel, Tourney Machine, or a legal pad. Get a link, live standings with real tiebreakers, and a bracket that fills itself in.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34924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three is the wedge: it costs a director nothing to try and asks him to abandon nothing.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 nobody else does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9774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generators are a commodity. Tournament stats are not.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21408"/>
          <a:ext cx="548640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658368"/>
                <a:gridCol w="658368"/>
                <a:gridCol w="786384"/>
                <a:gridCol w="777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 Doherty — Passion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.667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 Calloway — Lady Dukes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.625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Vance — Outlaws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.600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Reinhart — FP Select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.556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43159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leaders, live by Saturday afternoon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556248" y="2212848"/>
            <a:ext cx="155448" cy="155448"/>
          </a:xfrm>
          <a:prstGeom prst="diamond">
            <a:avLst/>
          </a:prstGeom>
          <a:solidFill>
            <a:srgbClr val="BC5533"/>
          </a:solidFill>
          <a:ln w="12700">
            <a:solidFill>
              <a:srgbClr val="BC55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22008" y="212140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all-tournament team picked on numbers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922008" y="2432304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which kid the director happened to watch.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556248" y="2962656"/>
            <a:ext cx="155448" cy="155448"/>
          </a:xfrm>
          <a:prstGeom prst="diamond">
            <a:avLst/>
          </a:prstGeom>
          <a:solidFill>
            <a:srgbClr val="BC5533"/>
          </a:solidFill>
          <a:ln w="12700">
            <a:solidFill>
              <a:srgbClr val="BC55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22008" y="2871216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Award sheets print before anyone leaves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922008" y="3182112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Sunday, at the field, while everybody is still there.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556248" y="3712464"/>
            <a:ext cx="155448" cy="155448"/>
          </a:xfrm>
          <a:prstGeom prst="diamond">
            <a:avLst/>
          </a:prstGeom>
          <a:solidFill>
            <a:srgbClr val="BC5533"/>
          </a:solidFill>
          <a:ln w="12700">
            <a:solidFill>
              <a:srgbClr val="BC55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22008" y="362102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team gets its weekend line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922008" y="3931920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link a coach forwards to twelve families.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556248" y="4462272"/>
            <a:ext cx="155448" cy="155448"/>
          </a:xfrm>
          <a:prstGeom prst="diamond">
            <a:avLst/>
          </a:prstGeom>
          <a:solidFill>
            <a:srgbClr val="BC5533"/>
          </a:solidFill>
          <a:ln w="12700">
            <a:solidFill>
              <a:srgbClr val="BC55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22008" y="437083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Pitching counts tracked all weekend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922008" y="4681728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Innings and limits, per kid, in one place.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534924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justifies a price. Scheduling alone does not.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stats get in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9774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coach uploads a picture. That's the whole ask.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359152"/>
            <a:ext cx="475488" cy="475488"/>
          </a:xfrm>
          <a:prstGeom prst="ellipse">
            <a:avLst/>
          </a:prstGeom>
          <a:solidFill>
            <a:srgbClr val="BC55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9992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uploads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401568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GameChanger screenshot, or a phone photo of a paper scorebook. Either works.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0" y="210312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75888" y="2359152"/>
            <a:ext cx="475488" cy="475488"/>
          </a:xfrm>
          <a:prstGeom prst="ellipse">
            <a:avLst/>
          </a:prstGeom>
          <a:solidFill>
            <a:srgbClr val="BC55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75888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29992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reads the sheet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3401568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 pulls every line into structured data in seconds.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99632" y="210312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359152"/>
            <a:ext cx="475488" cy="475488"/>
          </a:xfrm>
          <a:prstGeom prst="ellipse">
            <a:avLst/>
          </a:prstGeom>
          <a:solidFill>
            <a:srgbClr val="BC55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9992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confirms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401568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stats shown for review and correction. Nothing publishes unverified.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15984" y="210312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08592" y="2359152"/>
            <a:ext cx="475488" cy="475488"/>
          </a:xfrm>
          <a:prstGeom prst="ellipse">
            <a:avLst/>
          </a:prstGeom>
          <a:solidFill>
            <a:srgbClr val="BC55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08592" y="2359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08592" y="299923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 updates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308592" y="3401568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Tournament-wide batting, pitching and awards, live.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074920"/>
            <a:ext cx="11055096" cy="960120"/>
          </a:xfrm>
          <a:prstGeom prst="rect">
            <a:avLst/>
          </a:prstGeom>
          <a:solidFill>
            <a:srgbClr val="0E2A1E"/>
          </a:solidFill>
          <a:ln w="12700">
            <a:solidFill>
              <a:srgbClr val="0E2A1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2688" y="5074920"/>
            <a:ext cx="10323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read one box score: </a:t>
            </a:r>
            <a:pPr indent="0" marL="0">
              <a:buNone/>
            </a:pPr>
            <a:r>
              <a:rPr lang="en-US" sz="1600" b="1" dirty="0">
                <a:solidFill>
                  <a:srgbClr val="BC5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quarters of a cent.</a:t>
            </a:r>
            <a:pPr indent="0" marL="0">
              <a:buNone/>
            </a:pPr>
            <a:r>
              <a:rPr lang="en-US" sz="1600" dirty="0">
                <a:solidFill>
                  <a:srgbClr val="F1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full 22-game tournament runs about 30 cents.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else is out there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9774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 at scheduling. Empty at stats.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48840"/>
          <a:ext cx="11055096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011680"/>
                <a:gridCol w="4480560"/>
                <a:gridCol w="1545336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Tourney Machine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event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Youth sports, entrenched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TourneyMaker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+ IAP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tournaments, any sport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Tournament Scheduler Pro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$149 one-time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only, up to 128 teams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Score7 / Playpass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$9/mo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Leagues and brackets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Diamond Tourney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$79/event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Softball and baseball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C5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1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534924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Narrowing to two sports is the defensible move. A generic app can't add runs-allowed tiebreakers, finish-the-inning time limits and GameChanger without breaking itself for everyone else.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Pricing: per tournament, not per month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9774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 run two or three events a year. Monthly plans get cancelled in February.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176272"/>
            <a:ext cx="3502152" cy="3520440"/>
          </a:xfrm>
          <a:prstGeom prst="rect">
            <a:avLst/>
          </a:prstGeom>
          <a:solidFill>
            <a:srgbClr val="0E2A1E"/>
          </a:solidFill>
          <a:ln w="12700">
            <a:solidFill>
              <a:srgbClr val="0E2A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239572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Sheet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72491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C5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338328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8 teams, forever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3785616"/>
            <a:ext cx="28895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1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and bracket builder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1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link and print view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1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standings with tiebreakers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1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entry from your phone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176272"/>
            <a:ext cx="350215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54296" y="239572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54296" y="272491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654296" y="338328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event, any size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3785616"/>
            <a:ext cx="28895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The Sheet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and leaderboards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and payment tracking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All-tournament team and awards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9872" y="2176272"/>
            <a:ext cx="350215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30768" y="239572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430768" y="272491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$399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430768" y="338328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year, unlimited events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430768" y="3785616"/>
            <a:ext cx="288950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Tournament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club branding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directors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fee collection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94360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is the acquisition channel. A six-team in-house Saturday is competing with a pen, so charge it nothing and let that director tell three others.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economics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9774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is not the constraint.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2057400"/>
          <a:ext cx="66751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53528" y="2103120"/>
            <a:ext cx="3977640" cy="1033272"/>
          </a:xfrm>
          <a:prstGeom prst="rect">
            <a:avLst/>
          </a:prstGeom>
          <a:solidFill>
            <a:srgbClr val="F4F7F3"/>
          </a:solidFill>
          <a:ln w="12700">
            <a:solidFill>
              <a:srgbClr val="F4F7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27848" y="223113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927848" y="27340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per tournament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53528" y="3236976"/>
            <a:ext cx="3977640" cy="1033272"/>
          </a:xfrm>
          <a:prstGeom prst="rect">
            <a:avLst/>
          </a:prstGeom>
          <a:solidFill>
            <a:srgbClr val="F4F7F3"/>
          </a:solidFill>
          <a:ln w="12700">
            <a:solidFill>
              <a:srgbClr val="F4F7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27848" y="336499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927848" y="38679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events a year to break even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53528" y="4370832"/>
            <a:ext cx="3977640" cy="1033272"/>
          </a:xfrm>
          <a:prstGeom prst="rect">
            <a:avLst/>
          </a:prstGeom>
          <a:solidFill>
            <a:srgbClr val="F4F7F3"/>
          </a:solidFill>
          <a:ln w="12700">
            <a:solidFill>
              <a:srgbClr val="F4F7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27848" y="44988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&lt;$1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7927848" y="50017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cost per tournament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580644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cost isn't infrastructure. It's the build time and a support obligation on Saturday mornings.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runs 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15568"/>
            <a:ext cx="9774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Boring, managed, and up at 8am Saturday.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1105509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2148840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Pro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767328" y="2148840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and public pages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436608" y="2148840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B4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$20/mo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880360"/>
            <a:ext cx="11055096" cy="676656"/>
          </a:xfrm>
          <a:prstGeom prst="rect">
            <a:avLst/>
          </a:prstGeom>
          <a:solidFill>
            <a:srgbClr val="F4F7F3"/>
          </a:solidFill>
          <a:ln w="12700">
            <a:solidFill>
              <a:srgbClr val="F4F7F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86968" y="2880360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Pro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767328" y="2880360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logins, file storage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436608" y="2880360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B4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$25/mo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3611880"/>
            <a:ext cx="1105509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3611880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Resend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67328" y="3611880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and schedule-change email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436608" y="3611880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B4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$0–20/mo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4343400"/>
            <a:ext cx="11055096" cy="676656"/>
          </a:xfrm>
          <a:prstGeom prst="rect">
            <a:avLst/>
          </a:prstGeom>
          <a:solidFill>
            <a:srgbClr val="F4F7F3"/>
          </a:solidFill>
          <a:ln w="12700">
            <a:solidFill>
              <a:srgbClr val="F4F7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6968" y="4343400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767328" y="4343400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uploaded box scores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436608" y="4343400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B4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~$0.30 per event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66928" y="5074920"/>
            <a:ext cx="1105509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6968" y="5074920"/>
            <a:ext cx="2743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767328" y="5074920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diamondtourney.com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436608" y="5074920"/>
            <a:ext cx="2103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B4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~$1/mo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66928" y="5925312"/>
            <a:ext cx="11055096" cy="658368"/>
          </a:xfrm>
          <a:prstGeom prst="rect">
            <a:avLst/>
          </a:prstGeom>
          <a:solidFill>
            <a:srgbClr val="0E2A1E"/>
          </a:solidFill>
          <a:ln w="12700">
            <a:solidFill>
              <a:srgbClr val="0E2A1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6968" y="5925312"/>
            <a:ext cx="10415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$46 a month to start.  </a:t>
            </a:r>
            <a:pPr indent="0" marL="0">
              <a:buNone/>
            </a:pPr>
            <a:r>
              <a:rPr lang="en-US" sz="1600" b="1" dirty="0">
                <a:solidFill>
                  <a:srgbClr val="BC5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paid tournaments cover the year.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188720"/>
            <a:ext cx="237744" cy="237744"/>
          </a:xfrm>
          <a:prstGeom prst="diamond">
            <a:avLst/>
          </a:prstGeom>
          <a:solidFill>
            <a:srgbClr val="BC5533"/>
          </a:solidFill>
          <a:ln w="12700">
            <a:solidFill>
              <a:srgbClr val="BC55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1600200"/>
            <a:ext cx="11055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stands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66928" y="2596896"/>
            <a:ext cx="173736" cy="173736"/>
          </a:xfrm>
          <a:prstGeom prst="diamond">
            <a:avLst/>
          </a:prstGeom>
          <a:solidFill>
            <a:srgbClr val="BC5533"/>
          </a:solidFill>
          <a:ln w="12700">
            <a:solidFill>
              <a:srgbClr val="BC55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0976" y="246888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C5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50976" y="28346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schedule, standings with real tiebreakers, and a self-filling bracket, proven on a 22-game tournament.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3712464"/>
            <a:ext cx="173736" cy="173736"/>
          </a:xfrm>
          <a:prstGeom prst="diamond">
            <a:avLst/>
          </a:prstGeom>
          <a:solidFill>
            <a:srgbClr val="BC5533"/>
          </a:solidFill>
          <a:ln w="12700">
            <a:solidFill>
              <a:srgbClr val="BC55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50976" y="358444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C5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395020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screen, box score upload, registration.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4828032"/>
            <a:ext cx="173736" cy="173736"/>
          </a:xfrm>
          <a:prstGeom prst="diamond">
            <a:avLst/>
          </a:prstGeom>
          <a:solidFill>
            <a:srgbClr val="BC5533"/>
          </a:solidFill>
          <a:ln w="12700">
            <a:solidFill>
              <a:srgbClr val="BC55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" y="4700016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C5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 question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950976" y="506577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second organization will actually run their tournament on it.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5897880"/>
            <a:ext cx="2926080" cy="18288"/>
          </a:xfrm>
          <a:prstGeom prst="rect">
            <a:avLst/>
          </a:prstGeom>
          <a:solidFill>
            <a:srgbClr val="2F4C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6062472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DB3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where this is wrong.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Diamond Tourney</dc:title>
  <dc:subject>PptxGenJS Presentation</dc:subject>
  <dc:creator>Derek Rocco</dc:creator>
  <cp:lastModifiedBy>Derek Rocco</cp:lastModifiedBy>
  <cp:revision>1</cp:revision>
  <dcterms:created xsi:type="dcterms:W3CDTF">2026-09-17T14:27:18Z</dcterms:created>
  <dcterms:modified xsi:type="dcterms:W3CDTF">2026-09-17T14:27:18Z</dcterms:modified>
</cp:coreProperties>
</file>